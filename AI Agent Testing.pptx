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71" r:id="rId3"/>
    <p:sldId id="268" r:id="rId4"/>
    <p:sldId id="270" r:id="rId5"/>
    <p:sldId id="257" r:id="rId6"/>
    <p:sldId id="258" r:id="rId7"/>
    <p:sldId id="259" r:id="rId8"/>
    <p:sldId id="260" r:id="rId9"/>
    <p:sldId id="261" r:id="rId10"/>
    <p:sldId id="262" r:id="rId11"/>
    <p:sldId id="272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588" autoAdjust="0"/>
    <p:restoredTop sz="94624" autoAdjust="0"/>
  </p:normalViewPr>
  <p:slideViewPr>
    <p:cSldViewPr>
      <p:cViewPr varScale="1">
        <p:scale>
          <a:sx n="69" d="100"/>
          <a:sy n="69" d="100"/>
        </p:scale>
        <p:origin x="-141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LLM + AI Agents for QA Automation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>
                <a:solidFill>
                  <a:schemeClr val="bg2">
                    <a:lumMod val="50000"/>
                  </a:schemeClr>
                </a:solidFill>
              </a:rPr>
              <a:t>Automated Testing using AI</a:t>
            </a:r>
          </a:p>
          <a:p>
            <a:r>
              <a:rPr>
                <a:solidFill>
                  <a:schemeClr val="bg2">
                    <a:lumMod val="50000"/>
                  </a:schemeClr>
                </a:solidFill>
              </a:rPr>
              <a:t>Jira → Test Cases → Execution → </a:t>
            </a:r>
            <a:r>
              <a:rPr smtClean="0">
                <a:solidFill>
                  <a:schemeClr val="bg2">
                    <a:lumMod val="50000"/>
                  </a:schemeClr>
                </a:solidFill>
              </a:rPr>
              <a:t>Reports</a:t>
            </a:r>
            <a:endParaRPr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AI Agents?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t>• AI Agent = Intelligent software that performs tasks automatically</a:t>
            </a:r>
          </a:p>
          <a:p>
            <a:pPr>
              <a:buNone/>
            </a:pPr>
            <a:r>
              <a:t>• Works without human intervention</a:t>
            </a:r>
          </a:p>
          <a:p>
            <a:pPr>
              <a:buNone/>
            </a:pPr>
            <a:r>
              <a:t>• Can read Jira tickets</a:t>
            </a:r>
          </a:p>
          <a:p>
            <a:pPr>
              <a:buNone/>
            </a:pPr>
            <a:r>
              <a:t>• Generates test cases</a:t>
            </a:r>
          </a:p>
          <a:p>
            <a:pPr>
              <a:buNone/>
            </a:pPr>
            <a:r>
              <a:t>• Executes tests</a:t>
            </a:r>
          </a:p>
          <a:p>
            <a:pPr>
              <a:buNone/>
            </a:pPr>
            <a:r>
              <a:t>• Creates reports</a:t>
            </a:r>
          </a:p>
          <a:p>
            <a:pPr>
              <a:buNone/>
            </a:pPr>
            <a:r>
              <a:t>• Takes decisions based on results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 LLM?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• LLM = Large Language Model (example: ChatGPT)</a:t>
            </a:r>
          </a:p>
          <a:p>
            <a:pPr>
              <a:buNone/>
            </a:pPr>
            <a:r>
              <a:t>• Understands and generates human language</a:t>
            </a:r>
          </a:p>
          <a:p>
            <a:pPr>
              <a:buNone/>
            </a:pPr>
            <a:r>
              <a:t>• Reads requirements and user stories</a:t>
            </a:r>
          </a:p>
          <a:p>
            <a:pPr>
              <a:buNone/>
            </a:pPr>
            <a:r>
              <a:t>• Can create test cases automatically</a:t>
            </a:r>
          </a:p>
          <a:p>
            <a:pPr>
              <a:buNone/>
            </a:pPr>
            <a:r>
              <a:t>• Helps in decision making and automation</a:t>
            </a:r>
          </a:p>
          <a:p>
            <a:pPr>
              <a:buNone/>
            </a:pPr>
            <a:r>
              <a:t>• Learns from data and instructions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" y="152400"/>
            <a:ext cx="8839200" cy="63401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JIRA STORY → LLM UNDERSTANDING</a:t>
            </a:r>
          </a:p>
          <a:p>
            <a:r>
              <a:rPr lang="en-US" sz="1400" b="1" dirty="0" smtClean="0"/>
              <a:t>Objective</a:t>
            </a:r>
            <a:r>
              <a:rPr lang="en-US" sz="1400" b="1" dirty="0" smtClean="0"/>
              <a:t>:</a:t>
            </a:r>
            <a:r>
              <a:rPr lang="en-US" sz="1400" dirty="0" smtClean="0"/>
              <a:t> Validate that the LLM correctly understands requirements from </a:t>
            </a:r>
            <a:r>
              <a:rPr lang="en-US" sz="1400" dirty="0" err="1" smtClean="0"/>
              <a:t>Jira</a:t>
            </a:r>
            <a:r>
              <a:rPr lang="en-US" sz="1400" dirty="0" smtClean="0"/>
              <a:t> stories.</a:t>
            </a:r>
          </a:p>
          <a:p>
            <a:r>
              <a:rPr lang="en-US" sz="1400" b="1" dirty="0" smtClean="0"/>
              <a:t>Functional Test Cases</a:t>
            </a:r>
          </a:p>
          <a:p>
            <a:r>
              <a:rPr lang="en-US" sz="1400" dirty="0" smtClean="0"/>
              <a:t>Verify LLM extracts:</a:t>
            </a:r>
          </a:p>
          <a:p>
            <a:pPr lvl="1"/>
            <a:r>
              <a:rPr lang="en-US" sz="1400" dirty="0" smtClean="0"/>
              <a:t>Acceptance criteria correctly</a:t>
            </a:r>
          </a:p>
          <a:p>
            <a:pPr lvl="1"/>
            <a:r>
              <a:rPr lang="en-US" sz="1400" dirty="0" smtClean="0"/>
              <a:t>Business rules</a:t>
            </a:r>
          </a:p>
          <a:p>
            <a:pPr lvl="1"/>
            <a:r>
              <a:rPr lang="en-US" sz="1400" dirty="0" smtClean="0"/>
              <a:t>Preconditions</a:t>
            </a:r>
          </a:p>
          <a:p>
            <a:pPr lvl="1"/>
            <a:r>
              <a:rPr lang="en-US" sz="1400" dirty="0" smtClean="0"/>
              <a:t>User roles</a:t>
            </a:r>
          </a:p>
          <a:p>
            <a:pPr lvl="1"/>
            <a:r>
              <a:rPr lang="en-US" sz="1400" dirty="0" smtClean="0"/>
              <a:t>Edge cases</a:t>
            </a:r>
          </a:p>
          <a:p>
            <a:r>
              <a:rPr lang="en-US" sz="1400" dirty="0" smtClean="0"/>
              <a:t>Validate story parsing from different formats:</a:t>
            </a:r>
          </a:p>
          <a:p>
            <a:pPr lvl="1"/>
            <a:r>
              <a:rPr lang="en-US" sz="1400" dirty="0" smtClean="0"/>
              <a:t>Structured stories</a:t>
            </a:r>
          </a:p>
          <a:p>
            <a:pPr lvl="1"/>
            <a:r>
              <a:rPr lang="en-US" sz="1400" dirty="0" smtClean="0"/>
              <a:t>Poorly written stories</a:t>
            </a:r>
          </a:p>
          <a:p>
            <a:pPr lvl="1"/>
            <a:r>
              <a:rPr lang="en-US" sz="1400" dirty="0" smtClean="0"/>
              <a:t>Multi-scenario stories</a:t>
            </a:r>
          </a:p>
          <a:p>
            <a:r>
              <a:rPr lang="en-US" sz="1400" dirty="0" smtClean="0"/>
              <a:t>Check handling of:</a:t>
            </a:r>
          </a:p>
          <a:p>
            <a:pPr lvl="1"/>
            <a:r>
              <a:rPr lang="en-US" sz="1400" dirty="0" smtClean="0"/>
              <a:t>Ambiguous requirements</a:t>
            </a:r>
          </a:p>
          <a:p>
            <a:pPr lvl="1"/>
            <a:r>
              <a:rPr lang="en-US" sz="1400" dirty="0" smtClean="0"/>
              <a:t>Missing acceptance criteria</a:t>
            </a:r>
          </a:p>
          <a:p>
            <a:pPr lvl="1"/>
            <a:r>
              <a:rPr lang="en-US" sz="1400" dirty="0" smtClean="0"/>
              <a:t>Conflicting requirements</a:t>
            </a:r>
          </a:p>
          <a:p>
            <a:r>
              <a:rPr lang="en-US" sz="1400" dirty="0" smtClean="0"/>
              <a:t>Validate mapping:</a:t>
            </a:r>
          </a:p>
          <a:p>
            <a:pPr lvl="1"/>
            <a:r>
              <a:rPr lang="en-US" sz="1400" dirty="0" err="1" smtClean="0"/>
              <a:t>Jira</a:t>
            </a:r>
            <a:r>
              <a:rPr lang="en-US" sz="1400" dirty="0" smtClean="0"/>
              <a:t> ID → Test Scenario</a:t>
            </a:r>
          </a:p>
          <a:p>
            <a:pPr lvl="1"/>
            <a:r>
              <a:rPr lang="en-US" sz="1400" dirty="0" smtClean="0"/>
              <a:t>Story → Test objective</a:t>
            </a:r>
          </a:p>
          <a:p>
            <a:r>
              <a:rPr lang="en-US" sz="1400" b="1" dirty="0" smtClean="0"/>
              <a:t>Non-Functional</a:t>
            </a:r>
          </a:p>
          <a:p>
            <a:r>
              <a:rPr lang="en-US" sz="1400" dirty="0" smtClean="0"/>
              <a:t>Response time of LLM understanding</a:t>
            </a:r>
          </a:p>
          <a:p>
            <a:r>
              <a:rPr lang="en-US" sz="1400" dirty="0" smtClean="0"/>
              <a:t>Accuracy % of requirement interpretation</a:t>
            </a:r>
          </a:p>
          <a:p>
            <a:r>
              <a:rPr lang="en-US" sz="1400" dirty="0" smtClean="0"/>
              <a:t>Hallucination detection</a:t>
            </a:r>
          </a:p>
          <a:p>
            <a:r>
              <a:rPr lang="en-US" sz="1400" b="1" dirty="0" smtClean="0"/>
              <a:t>Negative Testing</a:t>
            </a:r>
          </a:p>
          <a:p>
            <a:r>
              <a:rPr lang="en-US" sz="1400" dirty="0" smtClean="0"/>
              <a:t>Empty story</a:t>
            </a:r>
          </a:p>
          <a:p>
            <a:r>
              <a:rPr lang="en-US" sz="1400" dirty="0" smtClean="0"/>
              <a:t>Non-functional requirement story</a:t>
            </a:r>
          </a:p>
          <a:p>
            <a:r>
              <a:rPr lang="en-US" sz="1400" dirty="0" smtClean="0"/>
              <a:t>Very large story description</a:t>
            </a:r>
          </a:p>
          <a:p>
            <a:r>
              <a:rPr lang="en-US" sz="1400" dirty="0" smtClean="0"/>
              <a:t>Unsupported language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763000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2. AI Test Case </a:t>
            </a:r>
            <a:r>
              <a:rPr lang="en-US" sz="1400" b="1" dirty="0" smtClean="0">
                <a:solidFill>
                  <a:srgbClr val="FF0000"/>
                </a:solidFill>
              </a:rPr>
              <a:t>Generator</a:t>
            </a:r>
          </a:p>
          <a:p>
            <a:endParaRPr lang="en-US" sz="1400" b="1" dirty="0" smtClean="0">
              <a:solidFill>
                <a:srgbClr val="FF0000"/>
              </a:solidFill>
            </a:endParaRPr>
          </a:p>
          <a:p>
            <a:r>
              <a:rPr lang="en-US" sz="1400" b="1" dirty="0" smtClean="0"/>
              <a:t>Objective:</a:t>
            </a:r>
            <a:r>
              <a:rPr lang="en-US" sz="1400" dirty="0" smtClean="0"/>
              <a:t> Ensure AI generates complete, relevant, and structured test cases.</a:t>
            </a:r>
          </a:p>
          <a:p>
            <a:r>
              <a:rPr lang="en-US" sz="1400" b="1" dirty="0" smtClean="0"/>
              <a:t>Functional Test Cases</a:t>
            </a:r>
          </a:p>
          <a:p>
            <a:r>
              <a:rPr lang="en-US" sz="1400" dirty="0" smtClean="0"/>
              <a:t>Verify generated test cases include:</a:t>
            </a:r>
          </a:p>
          <a:p>
            <a:pPr lvl="1"/>
            <a:r>
              <a:rPr lang="en-US" sz="1400" dirty="0" smtClean="0"/>
              <a:t>Test ID</a:t>
            </a:r>
          </a:p>
          <a:p>
            <a:pPr lvl="1"/>
            <a:r>
              <a:rPr lang="en-US" sz="1400" dirty="0" smtClean="0"/>
              <a:t>Test steps</a:t>
            </a:r>
          </a:p>
          <a:p>
            <a:pPr lvl="1"/>
            <a:r>
              <a:rPr lang="en-US" sz="1400" dirty="0" smtClean="0"/>
              <a:t>Expected result</a:t>
            </a:r>
          </a:p>
          <a:p>
            <a:pPr lvl="1"/>
            <a:r>
              <a:rPr lang="en-US" sz="1400" dirty="0" smtClean="0"/>
              <a:t>Test data</a:t>
            </a:r>
          </a:p>
          <a:p>
            <a:pPr lvl="1"/>
            <a:r>
              <a:rPr lang="en-US" sz="1400" dirty="0" smtClean="0"/>
              <a:t>Priority</a:t>
            </a:r>
          </a:p>
          <a:p>
            <a:pPr lvl="1"/>
            <a:r>
              <a:rPr lang="en-US" sz="1400" dirty="0" smtClean="0"/>
              <a:t>Precondition</a:t>
            </a:r>
          </a:p>
          <a:p>
            <a:r>
              <a:rPr lang="en-US" sz="1400" dirty="0" smtClean="0"/>
              <a:t>Validate test coverage:</a:t>
            </a:r>
          </a:p>
          <a:p>
            <a:pPr lvl="1"/>
            <a:r>
              <a:rPr lang="en-US" sz="1400" dirty="0" smtClean="0"/>
              <a:t>Positive scenarios</a:t>
            </a:r>
          </a:p>
          <a:p>
            <a:pPr lvl="1"/>
            <a:r>
              <a:rPr lang="en-US" sz="1400" dirty="0" smtClean="0"/>
              <a:t>Negative scenarios</a:t>
            </a:r>
          </a:p>
          <a:p>
            <a:pPr lvl="1"/>
            <a:r>
              <a:rPr lang="en-US" sz="1400" dirty="0" smtClean="0"/>
              <a:t>Boundary value cases</a:t>
            </a:r>
          </a:p>
          <a:p>
            <a:pPr lvl="1"/>
            <a:r>
              <a:rPr lang="en-US" sz="1400" dirty="0" smtClean="0"/>
              <a:t>Edge cases</a:t>
            </a:r>
          </a:p>
          <a:p>
            <a:r>
              <a:rPr lang="en-US" sz="1400" dirty="0" smtClean="0"/>
              <a:t>Verify traceability:</a:t>
            </a:r>
          </a:p>
          <a:p>
            <a:pPr lvl="1"/>
            <a:r>
              <a:rPr lang="en-US" sz="1400" dirty="0" smtClean="0"/>
              <a:t>Test case → </a:t>
            </a:r>
            <a:r>
              <a:rPr lang="en-US" sz="1400" dirty="0" err="1" smtClean="0"/>
              <a:t>Jira</a:t>
            </a:r>
            <a:r>
              <a:rPr lang="en-US" sz="1400" dirty="0" smtClean="0"/>
              <a:t> story mapping</a:t>
            </a:r>
          </a:p>
          <a:p>
            <a:r>
              <a:rPr lang="en-US" sz="1400" dirty="0" smtClean="0"/>
              <a:t>Check duplicate test case detection</a:t>
            </a:r>
          </a:p>
          <a:p>
            <a:r>
              <a:rPr lang="en-US" sz="1400" dirty="0" smtClean="0"/>
              <a:t>Validate test case format consistency</a:t>
            </a:r>
          </a:p>
          <a:p>
            <a:r>
              <a:rPr lang="en-US" sz="1400" b="1" dirty="0" smtClean="0"/>
              <a:t>Quality Validation</a:t>
            </a:r>
          </a:p>
          <a:p>
            <a:r>
              <a:rPr lang="en-US" sz="1400" dirty="0" smtClean="0"/>
              <a:t>Test case completeness score</a:t>
            </a:r>
          </a:p>
          <a:p>
            <a:r>
              <a:rPr lang="en-US" sz="1400" dirty="0" smtClean="0"/>
              <a:t>Coverage score</a:t>
            </a:r>
          </a:p>
          <a:p>
            <a:r>
              <a:rPr lang="en-US" sz="1400" dirty="0" smtClean="0"/>
              <a:t>Risk-based prioritization accuracy</a:t>
            </a:r>
          </a:p>
          <a:p>
            <a:r>
              <a:rPr lang="en-US" sz="1400" b="1" dirty="0" smtClean="0"/>
              <a:t>Negative Testing</a:t>
            </a:r>
          </a:p>
          <a:p>
            <a:r>
              <a:rPr lang="en-US" sz="1400" dirty="0" smtClean="0"/>
              <a:t>Incomplete requirement input</a:t>
            </a:r>
          </a:p>
          <a:p>
            <a:r>
              <a:rPr lang="en-US" sz="1400" dirty="0" smtClean="0"/>
              <a:t>Conflicting acceptance criteria</a:t>
            </a:r>
          </a:p>
          <a:p>
            <a:r>
              <a:rPr lang="en-US" sz="1400" dirty="0" smtClean="0"/>
              <a:t>Large feature scope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915400" cy="6894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 smtClean="0">
                <a:solidFill>
                  <a:srgbClr val="FF0000"/>
                </a:solidFill>
              </a:rPr>
              <a:t>3. Automation Script </a:t>
            </a:r>
            <a:r>
              <a:rPr lang="en-US" sz="1700" b="1" dirty="0" smtClean="0">
                <a:solidFill>
                  <a:srgbClr val="FF0000"/>
                </a:solidFill>
              </a:rPr>
              <a:t>Creation</a:t>
            </a:r>
          </a:p>
          <a:p>
            <a:endParaRPr lang="en-US" sz="1700" b="1" dirty="0" smtClean="0">
              <a:solidFill>
                <a:srgbClr val="FF0000"/>
              </a:solidFill>
            </a:endParaRPr>
          </a:p>
          <a:p>
            <a:r>
              <a:rPr lang="en-US" sz="1700" b="1" dirty="0" smtClean="0"/>
              <a:t>Objective:</a:t>
            </a:r>
            <a:r>
              <a:rPr lang="en-US" sz="1700" dirty="0" smtClean="0"/>
              <a:t> Validate AI converts test cases into executable automation scripts.</a:t>
            </a:r>
          </a:p>
          <a:p>
            <a:r>
              <a:rPr lang="en-US" sz="1700" b="1" dirty="0" smtClean="0"/>
              <a:t>Functional Test Cases</a:t>
            </a:r>
          </a:p>
          <a:p>
            <a:r>
              <a:rPr lang="en-US" sz="1700" dirty="0" smtClean="0"/>
              <a:t>Verify script generation for:</a:t>
            </a:r>
          </a:p>
          <a:p>
            <a:pPr lvl="1"/>
            <a:r>
              <a:rPr lang="en-US" sz="1700" dirty="0" smtClean="0"/>
              <a:t>UI testing</a:t>
            </a:r>
          </a:p>
          <a:p>
            <a:pPr lvl="1"/>
            <a:r>
              <a:rPr lang="en-US" sz="1700" dirty="0" smtClean="0"/>
              <a:t>API testing</a:t>
            </a:r>
          </a:p>
          <a:p>
            <a:pPr lvl="1"/>
            <a:r>
              <a:rPr lang="en-US" sz="1700" dirty="0" smtClean="0"/>
              <a:t>Database validation</a:t>
            </a:r>
          </a:p>
          <a:p>
            <a:r>
              <a:rPr lang="en-US" sz="1700" dirty="0" smtClean="0"/>
              <a:t>Validate:</a:t>
            </a:r>
          </a:p>
          <a:p>
            <a:pPr lvl="1"/>
            <a:r>
              <a:rPr lang="en-US" sz="1700" dirty="0" smtClean="0"/>
              <a:t>Locator identification</a:t>
            </a:r>
          </a:p>
          <a:p>
            <a:pPr lvl="1"/>
            <a:r>
              <a:rPr lang="en-US" sz="1700" dirty="0" smtClean="0"/>
              <a:t>Dynamic element handling</a:t>
            </a:r>
          </a:p>
          <a:p>
            <a:pPr lvl="1"/>
            <a:r>
              <a:rPr lang="en-US" sz="1700" dirty="0" smtClean="0"/>
              <a:t>Reusable functions</a:t>
            </a:r>
          </a:p>
          <a:p>
            <a:pPr lvl="1"/>
            <a:r>
              <a:rPr lang="en-US" sz="1700" dirty="0" smtClean="0"/>
              <a:t>Page Object Model structure</a:t>
            </a:r>
          </a:p>
          <a:p>
            <a:r>
              <a:rPr lang="en-US" sz="1700" dirty="0" smtClean="0"/>
              <a:t>Check language compatibility:</a:t>
            </a:r>
          </a:p>
          <a:p>
            <a:pPr lvl="1"/>
            <a:r>
              <a:rPr lang="en-US" sz="1700" dirty="0" smtClean="0"/>
              <a:t>Selenium Java</a:t>
            </a:r>
          </a:p>
          <a:p>
            <a:pPr lvl="1"/>
            <a:r>
              <a:rPr lang="en-US" sz="1700" dirty="0" smtClean="0"/>
              <a:t>Python</a:t>
            </a:r>
          </a:p>
          <a:p>
            <a:pPr lvl="1"/>
            <a:r>
              <a:rPr lang="en-US" sz="1700" dirty="0" smtClean="0"/>
              <a:t>Playwright etc.</a:t>
            </a:r>
          </a:p>
          <a:p>
            <a:r>
              <a:rPr lang="en-US" sz="1700" dirty="0" smtClean="0"/>
              <a:t>Validate test data parameterization</a:t>
            </a:r>
          </a:p>
          <a:p>
            <a:r>
              <a:rPr lang="en-US" sz="1700" b="1" dirty="0" smtClean="0"/>
              <a:t>Technical Validation</a:t>
            </a:r>
          </a:p>
          <a:p>
            <a:r>
              <a:rPr lang="en-US" sz="1700" dirty="0" smtClean="0"/>
              <a:t>Script compilation success</a:t>
            </a:r>
          </a:p>
          <a:p>
            <a:r>
              <a:rPr lang="en-US" sz="1700" dirty="0" smtClean="0"/>
              <a:t>Dependency management</a:t>
            </a:r>
          </a:p>
          <a:p>
            <a:r>
              <a:rPr lang="en-US" sz="1700" dirty="0" smtClean="0"/>
              <a:t>Framework integration</a:t>
            </a:r>
          </a:p>
          <a:p>
            <a:r>
              <a:rPr lang="en-US" sz="1700" b="1" dirty="0" smtClean="0"/>
              <a:t>Negative Testing</a:t>
            </a:r>
          </a:p>
          <a:p>
            <a:r>
              <a:rPr lang="en-US" sz="1700" dirty="0" smtClean="0"/>
              <a:t>Element not found</a:t>
            </a:r>
          </a:p>
          <a:p>
            <a:r>
              <a:rPr lang="en-US" sz="1700" dirty="0" smtClean="0"/>
              <a:t>Changing UI locator</a:t>
            </a:r>
          </a:p>
          <a:p>
            <a:r>
              <a:rPr lang="en-US" sz="1700" dirty="0" smtClean="0"/>
              <a:t>Unsupported technology stack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4. Test Execution </a:t>
            </a:r>
            <a:r>
              <a:rPr lang="en-US" b="1" dirty="0" smtClean="0">
                <a:solidFill>
                  <a:srgbClr val="FF0000"/>
                </a:solidFill>
              </a:rPr>
              <a:t>Engine</a:t>
            </a: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 smtClean="0"/>
              <a:t>Objective:</a:t>
            </a:r>
            <a:r>
              <a:rPr lang="en-US" dirty="0" smtClean="0"/>
              <a:t> Ensure test scripts execute correctly in automated environments.</a:t>
            </a:r>
          </a:p>
          <a:p>
            <a:r>
              <a:rPr lang="en-US" b="1" dirty="0" smtClean="0"/>
              <a:t>Functional Test Cases</a:t>
            </a:r>
          </a:p>
          <a:p>
            <a:r>
              <a:rPr lang="en-US" dirty="0" smtClean="0"/>
              <a:t>Validate execution modes:</a:t>
            </a:r>
          </a:p>
          <a:p>
            <a:pPr lvl="1"/>
            <a:r>
              <a:rPr lang="en-US" dirty="0" smtClean="0"/>
              <a:t>Parallel execution</a:t>
            </a:r>
          </a:p>
          <a:p>
            <a:pPr lvl="1"/>
            <a:r>
              <a:rPr lang="en-US" dirty="0" smtClean="0"/>
              <a:t>Sequential execution</a:t>
            </a:r>
          </a:p>
          <a:p>
            <a:r>
              <a:rPr lang="en-US" dirty="0" smtClean="0"/>
              <a:t>Environment validation:</a:t>
            </a:r>
          </a:p>
          <a:p>
            <a:pPr lvl="1"/>
            <a:r>
              <a:rPr lang="en-US" dirty="0" smtClean="0"/>
              <a:t>QA</a:t>
            </a:r>
          </a:p>
          <a:p>
            <a:pPr lvl="1"/>
            <a:r>
              <a:rPr lang="en-US" dirty="0" smtClean="0"/>
              <a:t>Staging</a:t>
            </a:r>
          </a:p>
          <a:p>
            <a:pPr lvl="1"/>
            <a:r>
              <a:rPr lang="en-US" dirty="0" smtClean="0"/>
              <a:t>Production-like</a:t>
            </a:r>
          </a:p>
          <a:p>
            <a:r>
              <a:rPr lang="en-US" dirty="0" smtClean="0"/>
              <a:t>Validate:</a:t>
            </a:r>
          </a:p>
          <a:p>
            <a:pPr lvl="1"/>
            <a:r>
              <a:rPr lang="en-US" dirty="0" smtClean="0"/>
              <a:t>Retry mechanism</a:t>
            </a:r>
          </a:p>
          <a:p>
            <a:pPr lvl="1"/>
            <a:r>
              <a:rPr lang="en-US" dirty="0" smtClean="0"/>
              <a:t>Failure handling</a:t>
            </a:r>
          </a:p>
          <a:p>
            <a:pPr lvl="1"/>
            <a:r>
              <a:rPr lang="en-US" dirty="0" smtClean="0"/>
              <a:t>Timeout handling</a:t>
            </a:r>
          </a:p>
          <a:p>
            <a:r>
              <a:rPr lang="en-US" dirty="0" smtClean="0"/>
              <a:t>Verify CI/CD integration</a:t>
            </a:r>
          </a:p>
          <a:p>
            <a:r>
              <a:rPr lang="en-US" b="1" dirty="0" smtClean="0"/>
              <a:t>Performance Testing</a:t>
            </a:r>
          </a:p>
          <a:p>
            <a:r>
              <a:rPr lang="en-US" dirty="0" smtClean="0"/>
              <a:t>Execution time tracking</a:t>
            </a:r>
          </a:p>
          <a:p>
            <a:r>
              <a:rPr lang="en-US" dirty="0" smtClean="0"/>
              <a:t>Resource usage</a:t>
            </a:r>
          </a:p>
          <a:p>
            <a:r>
              <a:rPr lang="en-US" dirty="0" smtClean="0"/>
              <a:t>Scalability with multiple test suites</a:t>
            </a:r>
          </a:p>
          <a:p>
            <a:r>
              <a:rPr lang="en-US" b="1" dirty="0" smtClean="0"/>
              <a:t>Failure Simulation</a:t>
            </a:r>
          </a:p>
          <a:p>
            <a:r>
              <a:rPr lang="en-US" dirty="0" smtClean="0"/>
              <a:t>Network failure</a:t>
            </a:r>
          </a:p>
          <a:p>
            <a:r>
              <a:rPr lang="en-US" dirty="0" smtClean="0"/>
              <a:t>Server downtime</a:t>
            </a:r>
          </a:p>
          <a:p>
            <a:r>
              <a:rPr lang="en-US" dirty="0" smtClean="0"/>
              <a:t>Browser crash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5. Results + </a:t>
            </a:r>
            <a:r>
              <a:rPr lang="en-US" b="1" dirty="0" smtClean="0">
                <a:solidFill>
                  <a:srgbClr val="FF0000"/>
                </a:solidFill>
              </a:rPr>
              <a:t>Monitoring</a:t>
            </a: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 smtClean="0"/>
              <a:t>Objective:</a:t>
            </a:r>
            <a:r>
              <a:rPr lang="en-US" dirty="0" smtClean="0"/>
              <a:t> Ensure accurate logging, reporting, and failure analysis.</a:t>
            </a:r>
          </a:p>
          <a:p>
            <a:r>
              <a:rPr lang="en-US" b="1" dirty="0" smtClean="0"/>
              <a:t>Functional Test Cases</a:t>
            </a:r>
          </a:p>
          <a:p>
            <a:r>
              <a:rPr lang="en-US" dirty="0" smtClean="0"/>
              <a:t>Verify result capture:</a:t>
            </a:r>
          </a:p>
          <a:p>
            <a:pPr lvl="1"/>
            <a:r>
              <a:rPr lang="en-US" dirty="0" smtClean="0"/>
              <a:t>Pass / Fail</a:t>
            </a:r>
          </a:p>
          <a:p>
            <a:pPr lvl="1"/>
            <a:r>
              <a:rPr lang="en-US" dirty="0" smtClean="0"/>
              <a:t>Error logs</a:t>
            </a:r>
          </a:p>
          <a:p>
            <a:pPr lvl="1"/>
            <a:r>
              <a:rPr lang="en-US" dirty="0" smtClean="0"/>
              <a:t>Screenshots</a:t>
            </a:r>
          </a:p>
          <a:p>
            <a:pPr lvl="1"/>
            <a:r>
              <a:rPr lang="en-US" dirty="0" smtClean="0"/>
              <a:t>Video recording</a:t>
            </a:r>
          </a:p>
          <a:p>
            <a:r>
              <a:rPr lang="en-US" dirty="0" smtClean="0"/>
              <a:t>Validate defect auto-creation in </a:t>
            </a:r>
            <a:r>
              <a:rPr lang="en-US" dirty="0" err="1" smtClean="0"/>
              <a:t>Jira</a:t>
            </a:r>
            <a:endParaRPr lang="en-US" dirty="0" smtClean="0"/>
          </a:p>
          <a:p>
            <a:r>
              <a:rPr lang="en-US" dirty="0" smtClean="0"/>
              <a:t>Verify root cause classification:</a:t>
            </a:r>
          </a:p>
          <a:p>
            <a:pPr lvl="1"/>
            <a:r>
              <a:rPr lang="en-US" dirty="0" smtClean="0"/>
              <a:t>Script issue</a:t>
            </a:r>
          </a:p>
          <a:p>
            <a:pPr lvl="1"/>
            <a:r>
              <a:rPr lang="en-US" dirty="0" smtClean="0"/>
              <a:t>Environment issue</a:t>
            </a:r>
          </a:p>
          <a:p>
            <a:pPr lvl="1"/>
            <a:r>
              <a:rPr lang="en-US" dirty="0" smtClean="0"/>
              <a:t>Application defect</a:t>
            </a:r>
          </a:p>
          <a:p>
            <a:r>
              <a:rPr lang="en-US" b="1" dirty="0" smtClean="0"/>
              <a:t>Monitoring Validation</a:t>
            </a:r>
          </a:p>
          <a:p>
            <a:r>
              <a:rPr lang="en-US" dirty="0" smtClean="0"/>
              <a:t>Real-time execution monitoring</a:t>
            </a:r>
          </a:p>
          <a:p>
            <a:r>
              <a:rPr lang="en-US" dirty="0" smtClean="0"/>
              <a:t>Alert notification system</a:t>
            </a:r>
          </a:p>
          <a:p>
            <a:r>
              <a:rPr lang="en-US" dirty="0" smtClean="0"/>
              <a:t>Test trend tracking</a:t>
            </a:r>
          </a:p>
          <a:p>
            <a:r>
              <a:rPr lang="en-US" b="1" dirty="0" smtClean="0"/>
              <a:t>Data Integrity</a:t>
            </a:r>
          </a:p>
          <a:p>
            <a:r>
              <a:rPr lang="en-US" dirty="0" smtClean="0"/>
              <a:t>Result storage consistency</a:t>
            </a:r>
          </a:p>
          <a:p>
            <a:r>
              <a:rPr lang="en-US" dirty="0" smtClean="0"/>
              <a:t>Historical comparison accuracy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</a:rPr>
              <a:t>6. AI Dashboard &amp; </a:t>
            </a:r>
            <a:r>
              <a:rPr lang="en-US" sz="2000" b="1" dirty="0" smtClean="0">
                <a:solidFill>
                  <a:srgbClr val="FF0000"/>
                </a:solidFill>
              </a:rPr>
              <a:t>Insights</a:t>
            </a:r>
          </a:p>
          <a:p>
            <a:endParaRPr lang="en-US" sz="2000" b="1" dirty="0" smtClean="0">
              <a:solidFill>
                <a:srgbClr val="FF0000"/>
              </a:solidFill>
            </a:endParaRPr>
          </a:p>
          <a:p>
            <a:r>
              <a:rPr lang="en-US" sz="2000" b="1" dirty="0" smtClean="0"/>
              <a:t>Objective:</a:t>
            </a:r>
            <a:r>
              <a:rPr lang="en-US" sz="2000" dirty="0" smtClean="0"/>
              <a:t> Validate analytics, reporting, and decision-making insights.</a:t>
            </a:r>
          </a:p>
          <a:p>
            <a:r>
              <a:rPr lang="en-US" sz="2000" b="1" dirty="0" smtClean="0"/>
              <a:t>Functional Test Cases</a:t>
            </a:r>
          </a:p>
          <a:p>
            <a:r>
              <a:rPr lang="en-US" sz="2000" dirty="0" smtClean="0"/>
              <a:t>Verify dashboard metrics:</a:t>
            </a:r>
          </a:p>
          <a:p>
            <a:pPr lvl="1"/>
            <a:r>
              <a:rPr lang="en-US" sz="2000" dirty="0" smtClean="0"/>
              <a:t>Test coverage</a:t>
            </a:r>
          </a:p>
          <a:p>
            <a:pPr lvl="1"/>
            <a:r>
              <a:rPr lang="en-US" sz="2000" dirty="0" smtClean="0"/>
              <a:t>Failure trends</a:t>
            </a:r>
          </a:p>
          <a:p>
            <a:pPr lvl="1"/>
            <a:r>
              <a:rPr lang="en-US" sz="2000" dirty="0" smtClean="0"/>
              <a:t>Execution success rate</a:t>
            </a:r>
          </a:p>
          <a:p>
            <a:pPr lvl="1"/>
            <a:r>
              <a:rPr lang="en-US" sz="2000" dirty="0" smtClean="0"/>
              <a:t>Defect density</a:t>
            </a:r>
          </a:p>
          <a:p>
            <a:r>
              <a:rPr lang="en-US" sz="2000" dirty="0" smtClean="0"/>
              <a:t>Validate predictive insights:</a:t>
            </a:r>
          </a:p>
          <a:p>
            <a:pPr lvl="1"/>
            <a:r>
              <a:rPr lang="en-US" sz="2000" dirty="0" smtClean="0"/>
              <a:t>Risk prediction</a:t>
            </a:r>
          </a:p>
          <a:p>
            <a:pPr lvl="1"/>
            <a:r>
              <a:rPr lang="en-US" sz="2000" dirty="0" smtClean="0"/>
              <a:t>Failure probability</a:t>
            </a:r>
          </a:p>
          <a:p>
            <a:r>
              <a:rPr lang="en-US" sz="2000" dirty="0" smtClean="0"/>
              <a:t>Verify filtering:</a:t>
            </a:r>
          </a:p>
          <a:p>
            <a:pPr lvl="1"/>
            <a:r>
              <a:rPr lang="en-US" sz="2000" dirty="0" smtClean="0"/>
              <a:t>By release</a:t>
            </a:r>
          </a:p>
          <a:p>
            <a:pPr lvl="1"/>
            <a:r>
              <a:rPr lang="en-US" sz="2000" dirty="0" smtClean="0"/>
              <a:t>By module</a:t>
            </a:r>
          </a:p>
          <a:p>
            <a:pPr lvl="1"/>
            <a:r>
              <a:rPr lang="en-US" sz="2000" dirty="0" smtClean="0"/>
              <a:t>By environment</a:t>
            </a:r>
          </a:p>
          <a:p>
            <a:r>
              <a:rPr lang="en-US" sz="2000" b="1" dirty="0" smtClean="0"/>
              <a:t>Visualization Testing</a:t>
            </a:r>
          </a:p>
          <a:p>
            <a:r>
              <a:rPr lang="en-US" sz="2000" dirty="0" smtClean="0"/>
              <a:t>Chart accuracy</a:t>
            </a:r>
          </a:p>
          <a:p>
            <a:r>
              <a:rPr lang="en-US" sz="2000" dirty="0" smtClean="0"/>
              <a:t>Data refresh frequency</a:t>
            </a:r>
          </a:p>
          <a:p>
            <a:r>
              <a:rPr lang="en-US" sz="2000" dirty="0" smtClean="0"/>
              <a:t>Export reports (PDF / Excel)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Driven Testing = Faster Delivery + Better Quality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</TotalTime>
  <Words>582</Words>
  <Application>Microsoft Office PowerPoint</Application>
  <PresentationFormat>On-screen Show (4:3)</PresentationFormat>
  <Paragraphs>168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LLM + AI Agents for QA Automation</vt:lpstr>
      <vt:lpstr>What are AI Agents?</vt:lpstr>
      <vt:lpstr>What is an LLM?</vt:lpstr>
      <vt:lpstr>Slide 4</vt:lpstr>
      <vt:lpstr>Slide 5</vt:lpstr>
      <vt:lpstr>Slide 6</vt:lpstr>
      <vt:lpstr>Slide 7</vt:lpstr>
      <vt:lpstr>Slide 8</vt:lpstr>
      <vt:lpstr>Slide 9</vt:lpstr>
      <vt:lpstr>Slide 10</vt:lpstr>
      <vt:lpstr>Thank You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Dell</dc:creator>
  <cp:lastModifiedBy>Dell</cp:lastModifiedBy>
  <cp:revision>32</cp:revision>
  <dcterms:created xsi:type="dcterms:W3CDTF">2006-08-16T00:00:00Z</dcterms:created>
  <dcterms:modified xsi:type="dcterms:W3CDTF">2026-02-11T16:35:16Z</dcterms:modified>
</cp:coreProperties>
</file>