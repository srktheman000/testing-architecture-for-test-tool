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1F4E79"/>
                </a:solidFill>
                <a:latin typeface="Calibri"/>
              </a:defRPr>
            </a:pPr>
            <a:r>
              <a:t>Agentic AI Testing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222222"/>
                </a:solidFill>
                <a:latin typeface="Calibri"/>
              </a:defRPr>
            </a:pPr>
            <a:r>
              <a:t>for Automated Tool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A Meta-Testing Platform -- It tests applications AND it tests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91440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har char="•"/>
            </a:pPr>
            <a:r>
              <a:rPr sz="1800" b="1">
                <a:solidFill>
                  <a:srgbClr val="222222"/>
                </a:solidFill>
                <a:latin typeface="Calibri"/>
              </a:rPr>
              <a:t>  Accuracy -- </a:t>
            </a:r>
            <a:r>
              <a:rPr sz="1800">
                <a:solidFill>
                  <a:srgbClr val="222222"/>
                </a:solidFill>
                <a:latin typeface="Calibri"/>
              </a:rPr>
              <a:t>AI quality is measured, not assumed</a:t>
            </a:r>
          </a:p>
          <a:p>
            <a:pPr>
              <a:spcBef>
                <a:spcPts val="800"/>
              </a:spcBef>
              <a:spcAft>
                <a:spcPts val="800"/>
              </a:spcAft>
              <a:buChar char="•"/>
            </a:pPr>
            <a:r>
              <a:rPr sz="1800" b="1">
                <a:solidFill>
                  <a:srgbClr val="222222"/>
                </a:solidFill>
                <a:latin typeface="Calibri"/>
              </a:rPr>
              <a:t>  Autonomy -- </a:t>
            </a:r>
            <a:r>
              <a:rPr sz="1800">
                <a:solidFill>
                  <a:srgbClr val="222222"/>
                </a:solidFill>
                <a:latin typeface="Calibri"/>
              </a:rPr>
              <a:t>Minimal human intervention for routine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buChar char="•"/>
            </a:pPr>
            <a:r>
              <a:rPr sz="1800" b="1">
                <a:solidFill>
                  <a:srgbClr val="222222"/>
                </a:solidFill>
                <a:latin typeface="Calibri"/>
              </a:rPr>
              <a:t>  Trust -- </a:t>
            </a:r>
            <a:r>
              <a:rPr sz="1800">
                <a:solidFill>
                  <a:srgbClr val="222222"/>
                </a:solidFill>
                <a:latin typeface="Calibri"/>
              </a:rPr>
              <a:t>Every AI decision is auditable and traceable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Testing Architect Presentation  |  February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Why we need an Agentic AI Testing Platform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on Testing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test design doesn't scale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QA becomes the bottleneck as sprints accelerate; coverage gaps widen silently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Jira stories are ambiguous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 have missing acceptance criteria; 60% miss negative/edge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Automation scripts break frequently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42% of failures are just broken locators; teams spend more time fixing than writing tests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confidence in AI-generated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framework to measure hallucination, coverage, or format consistency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F4E79"/>
                </a:solidFill>
                <a:latin typeface="Calibri"/>
              </a:defRPr>
            </a:pPr>
            <a:r>
              <a:t>The Goal: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058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  Scale test design without scaling the team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  Detect and flag ambiguous requirements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  Self-heal broken automation scripts when UI changes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  Measure AI quality with empirical metrics (golden datasets, hallucination rate, coverage scores)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  Build a feedback loop so the system improves with every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5 independent, testable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Layer 5: 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Supervisor Agent -- Coordinates all agents, makes decisions, triggers retries/escalations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04288"/>
            <a:ext cx="1097280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54864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0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Layer 4: Analysis &amp;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AI Metrics + Execution Metrics -- Measures accuracy, coverage, hallucination, pass rate, flakiness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45536"/>
            <a:ext cx="1097280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45536"/>
            <a:ext cx="54864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912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Layer 3: Automation &amp;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930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Script Agent + Execution Engine + RCA Agent -- Generates code, runs tests, analyzes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1097280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86784"/>
            <a:ext cx="54864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32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Layer 2: Agentic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342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Requirement Agent + Test Case Agent + Feedback Loop -- Understands stories, generates test cases, learns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28032"/>
            <a:ext cx="1097280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28032"/>
            <a:ext cx="54864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73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Layer 1: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755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Jira Connector + Parser + Validator + Normalizer -- Fetches, validates, standardizes input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Each layer is independently testable. Data flows down, feedback flows up. Integration boundaries are explicit contract test points.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Agentic AI Design 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Multiple specialized agents coordinated by a supervisor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Autonomous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Agents act without step-by-step human instructions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Goal-driven, not rule-driven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Pipeline runs end-to-end on its own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Each agent has authority to proceed, retry, or escalate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Decision-Making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Each agent decides and logs its choices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Confidence scores enable smart routing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Decisions are explainable and reversible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Bounded autonomy -- </a:t>
            </a:r>
            <a:r>
              <a:rPr sz="1300">
                <a:solidFill>
                  <a:srgbClr val="222222"/>
                </a:solidFill>
                <a:latin typeface="Calibri"/>
              </a:rPr>
              <a:t>agents can't do catastrophic things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Feedback-Driven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745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Execution results feed back into prompts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Thresholds adjust based on real outcomes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System measurably improves each cycle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Prompt regression tests prevent degradation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F4E79"/>
                </a:solidFill>
                <a:latin typeface="Calibri"/>
              </a:defRPr>
            </a:pPr>
            <a:r>
              <a:t>Why Multi-Agent (not Monolithic)?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  Each agent fails independently -- </a:t>
            </a:r>
            <a:r>
              <a:rPr sz="1400">
                <a:solidFill>
                  <a:srgbClr val="333333"/>
                </a:solidFill>
                <a:latin typeface="Calibri"/>
              </a:rPr>
              <a:t>no single point of failure for the whole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>
                <a:solidFill>
                  <a:srgbClr val="333333"/>
                </a:solidFill>
                <a:latin typeface="Calibri"/>
              </a:rPr>
              <a:t>  Each agent is testable in isolation with its own golden dataset and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>
                <a:solidFill>
                  <a:srgbClr val="333333"/>
                </a:solidFill>
                <a:latin typeface="Calibri"/>
              </a:rPr>
              <a:t>  Agents can scale independently (e.g., 5 execution workers but only 1 RCA agent)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>
                <a:solidFill>
                  <a:srgbClr val="333333"/>
                </a:solidFill>
                <a:latin typeface="Calibri"/>
              </a:rPr>
              <a:t>  Clear responsibility boundaries make debugging and auditing straightforward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Module 1: Jira Ingestion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The entry point -- if garbage enters here, every downstream agent produces garbage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2120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Connect to Jira via OAuth / API Token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Fetch stories, bugs, tasks by ID or batch by project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Validate structure -- </a:t>
            </a:r>
            <a:r>
              <a:rPr sz="1300">
                <a:solidFill>
                  <a:srgbClr val="222222"/>
                </a:solidFill>
                <a:latin typeface="Calibri"/>
              </a:rPr>
              <a:t>required fields, supported formats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Normalize content -- </a:t>
            </a:r>
            <a:r>
              <a:rPr sz="1300">
                <a:solidFill>
                  <a:srgbClr val="222222"/>
                </a:solidFill>
                <a:latin typeface="Calibri"/>
              </a:rPr>
              <a:t>strip HTML, resolve macros, fix encoding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Output canonical JSON for all downstream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36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Testing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7452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Empty / malformed stories -- </a:t>
            </a:r>
            <a:r>
              <a:rPr sz="1300">
                <a:solidFill>
                  <a:srgbClr val="222222"/>
                </a:solidFill>
                <a:latin typeface="Calibri"/>
              </a:rPr>
              <a:t>flag as incomplete, don't pass downstream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Expired tokens / wrong project -- </a:t>
            </a:r>
            <a:r>
              <a:rPr sz="1300">
                <a:solidFill>
                  <a:srgbClr val="222222"/>
                </a:solidFill>
                <a:latin typeface="Calibri"/>
              </a:rPr>
              <a:t>return clear auth errors (401, 403)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Rate limits (429) -- </a:t>
            </a:r>
            <a:r>
              <a:rPr sz="1300">
                <a:solidFill>
                  <a:srgbClr val="222222"/>
                </a:solidFill>
                <a:latin typeface="Calibri"/>
              </a:rPr>
              <a:t>backoff and retry with Retry-After header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XSS payloads in story text -- </a:t>
            </a:r>
            <a:r>
              <a:rPr sz="1300">
                <a:solidFill>
                  <a:srgbClr val="222222"/>
                </a:solidFill>
                <a:latin typeface="Calibri"/>
              </a:rPr>
              <a:t>sanitize, never render raw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Bulk fetch 100+ stories -- </a:t>
            </a:r>
            <a:r>
              <a:rPr sz="1300">
                <a:solidFill>
                  <a:srgbClr val="222222"/>
                </a:solidFill>
                <a:latin typeface="Calibri"/>
              </a:rPr>
              <a:t>pagination, no timeout, no data mixing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1148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 Threshold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Ingestion Success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Failed fetches block the entire pipeline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Parsing Error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Malformed data corrupts downstream AI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Validation Pass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pass rate may indicate Jira content quality issues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Ingestion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2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5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Slow ingestion delays the full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Module 2: Requirement Understanding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Turning Jira stories into structured, testable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383280" cy="2377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Extract acceptance criteria from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story body (Gherkin, bullets, prose)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Identify implicit business rules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(e.g., 'login' implies auth needed)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Detect ambiguity and flag vague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requirements for human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383280" cy="2377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2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Golden Story Comparison -- </a:t>
            </a:r>
            <a:r>
              <a:rPr sz="1300">
                <a:solidFill>
                  <a:srgbClr val="222222"/>
                </a:solidFill>
                <a:latin typeface="Calibri"/>
              </a:rPr>
              <a:t>50-100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stories with human-verified output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Hallucination Detection -- </a:t>
            </a:r>
            <a:r>
              <a:rPr sz="1300">
                <a:solidFill>
                  <a:srgbClr val="222222"/>
                </a:solidFill>
                <a:latin typeface="Calibri"/>
              </a:rPr>
              <a:t>agent must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NOT invent criteria not in the story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Ambiguity Flag Accuracy -- </a:t>
            </a:r>
            <a:r>
              <a:rPr sz="1300">
                <a:solidFill>
                  <a:srgbClr val="222222"/>
                </a:solidFill>
                <a:latin typeface="Calibri"/>
              </a:rPr>
              <a:t>vague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phrases flagged, clear ones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383280" cy="2377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Ambiguity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7452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BAD: "should work correctly"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BAD: "handle errors appropriately"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BAD: "response time acceptable"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GOOD: "login with email &amp; password"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GOOD: "display name on dashboard"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Agent flags BAD, passes GOOD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2062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We Measure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Requirement Interpretation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Compare agent output vs golden dataset (human-verified extractions)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Count AI-generated items with no source mapping in the original 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Ambiguity Detection F1 Score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Precision and recall of flagging vague vs clear requirements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Business Rule Detection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Compare detected implicit rules vs expert-identified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Module 3: Test Case Design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Generating comprehensive, traceable test cases from structured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21208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What It Generates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Positive path tests -- </a:t>
            </a:r>
            <a:r>
              <a:rPr sz="1300">
                <a:solidFill>
                  <a:srgbClr val="222222"/>
                </a:solidFill>
                <a:latin typeface="Calibri"/>
              </a:rPr>
              <a:t>happy flow for each acceptance criterion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Negative path tests -- </a:t>
            </a:r>
            <a:r>
              <a:rPr sz="1300">
                <a:solidFill>
                  <a:srgbClr val="222222"/>
                </a:solidFill>
                <a:latin typeface="Calibri"/>
              </a:rPr>
              <a:t>invalid inputs, unauthorized access, timeouts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Edge cases -- </a:t>
            </a:r>
            <a:r>
              <a:rPr sz="1300">
                <a:solidFill>
                  <a:srgbClr val="222222"/>
                </a:solidFill>
                <a:latin typeface="Calibri"/>
              </a:rPr>
              <a:t>boundary values, empty inputs, max lengths, special characters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Risk-based priority assignment (P0-P3) per test case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Full Jira traceability -- </a:t>
            </a:r>
            <a:r>
              <a:rPr sz="1300">
                <a:solidFill>
                  <a:srgbClr val="222222"/>
                </a:solidFill>
                <a:latin typeface="Calibri"/>
              </a:rPr>
              <a:t>every TC links back to Story ID + AC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36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7452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Coverage completeness -- </a:t>
            </a:r>
            <a:r>
              <a:rPr sz="1300">
                <a:solidFill>
                  <a:srgbClr val="222222"/>
                </a:solidFill>
                <a:latin typeface="Calibri"/>
              </a:rPr>
              <a:t>every AC has positive + negative + edge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Duplicate detection -- </a:t>
            </a:r>
            <a:r>
              <a:rPr sz="1300">
                <a:solidFill>
                  <a:srgbClr val="222222"/>
                </a:solidFill>
                <a:latin typeface="Calibri"/>
              </a:rPr>
              <a:t>semantic similarity check (cosine &gt; 0.85 = duplicate)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Golden dataset comparison -- </a:t>
            </a:r>
            <a:r>
              <a:rPr sz="1300">
                <a:solidFill>
                  <a:srgbClr val="222222"/>
                </a:solidFill>
                <a:latin typeface="Calibri"/>
              </a:rPr>
              <a:t>generated TCs vs expert-written TCs (&gt;= 85%)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Consistency -- </a:t>
            </a:r>
            <a:r>
              <a:rPr sz="1300">
                <a:solidFill>
                  <a:srgbClr val="222222"/>
                </a:solidFill>
                <a:latin typeface="Calibri"/>
              </a:rPr>
              <a:t>same input 5 times produces same TC count and coverage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Hallucination check -- </a:t>
            </a:r>
            <a:r>
              <a:rPr sz="1300">
                <a:solidFill>
                  <a:srgbClr val="222222"/>
                </a:solidFill>
                <a:latin typeface="Calibri"/>
              </a:rPr>
              <a:t>no TCs for features not mentioned in the story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9319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 Dimension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We Check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 Coverage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Every acceptance criterion has at least 1 test case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Positive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Each AC has a happy-path test case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Negative Path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Each AC has at least 1 failure-mode test case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 Cases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Boundary values, empty inputs, max lengths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Business Rules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Each identified business rule has violation scenarios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Output: Structured JSON test cases with ID, title, steps, expected result, priority, confidence score, and Jira traceability.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Module 4: Automation Script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Converting approved test cases into production-quality executable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383280" cy="2560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Code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10896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UI tests: Playwright / Selenium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API tests: REST Assured / Supertest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DB tests: Parameterized SQL queries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Follows Page Object Model (POM)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Uses stable locators (data-testid)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Explicit waits, no hard-coded sleeps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Parameterized test data, not embedded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383280" cy="2560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Quality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20"/>
            <a:ext cx="310896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Syntax check -- </a:t>
            </a:r>
            <a:r>
              <a:rPr sz="1300">
                <a:solidFill>
                  <a:srgbClr val="222222"/>
                </a:solidFill>
                <a:latin typeface="Calibri"/>
              </a:rPr>
              <a:t>must compile clean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Locators -- </a:t>
            </a:r>
            <a:r>
              <a:rPr sz="1300">
                <a:solidFill>
                  <a:srgbClr val="222222"/>
                </a:solidFill>
                <a:latin typeface="Calibri"/>
              </a:rPr>
              <a:t>robustness score &gt;= 7/10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Assertions match every expected result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POM structure compliance check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No hard-coded waits (sleep/timeout)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ESLint / static analysis passes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Test data is externalized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383280" cy="2560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Self-Healing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74520"/>
            <a:ext cx="310896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Broken locator: find by text/role/label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App flow changed: regenerate script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Confidence &gt; 0.8: auto-apply fix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Confidence &lt; 0.8: flag for human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Traditional recovery: hours to days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Self-healing recovery: seconds to min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Reduces maintenance effort by 70%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3891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Validates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 Compilation Success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Generated code must actually compile and run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Locator Robustness Score (avg)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7/10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data-testid=10, id=8, CSS=5, XPath=2 -- higher is more stable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POM Compliance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Page classes separate from tests, locators as properties, methods for actions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Auto-Heal Success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Broken locators/flows auto-repaired without human intervention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Module 5: Execution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Running tests at scale, reliably, across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Execute across Chrome, Firefox, Edge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Parallel execution (10 workers = 10x)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Environment mgmt (QA, Staging, Prod)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CI/CD integration (Jenkins, GH Actions)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Capture screenshots, logs, 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Retry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Element not found: retry 2x, extend wait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Network timeout: retry 3x, exp. backoff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Browser crash: restart browser, retry 2x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Auth expired: refresh token, retry 1x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Assertion failure: NO retry (real bug!)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Chaos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Kill browser mid-test: partial results saved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Network disconnect: retry + clear error log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Disk full: graceful error, no silent loss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Memory pressure: clean shutdown + alert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Grid node removed: redistribute to others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1148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Means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Execution Success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Percentage of tests that pass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Flakiness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Tests that flip pass/fail on same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Retry Recovery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60%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40%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Tests that pass on retry (transient failures)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 Efficiency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Actual speedup vs theoretical 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Execution Time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45 sec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90 sec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duration per test script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Module 6: Results &amp; RCA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From test failures to root causes to Jira defects -- closing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Evidence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Console logs (browser + server)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Screenshot at exact failure point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Video recording of full test run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Network HAR trace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DOM snapshot at failure moment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Root Cause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Assertion mismatch --&gt; App Bug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Element not found --&gt; Locator Issue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HTTP 500 in logs --&gt; Backend Bug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Timeout, no response --&gt; Infra Issue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Script syntax error --&gt; Script Bug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Auto Jira Defect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Title + steps to reproduce from TC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Evidence attached (screenshot, video)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Severity mapped from test priority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Linked to original Jira story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Duplicate detection (fingerprinting)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Critical: False Positive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  Infra failures are NOT filed as app bugs -- </a:t>
            </a:r>
            <a:r>
              <a:rPr sz="1400">
                <a:solidFill>
                  <a:srgbClr val="333333"/>
                </a:solidFill>
                <a:latin typeface="Calibri"/>
              </a:rPr>
              <a:t>saves developer time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  Flaky tests (pass on retry) are NOT filed as bugs -- </a:t>
            </a:r>
            <a:r>
              <a:rPr sz="1400">
                <a:solidFill>
                  <a:srgbClr val="333333"/>
                </a:solidFill>
                <a:latin typeface="Calibri"/>
              </a:rPr>
              <a:t>reduces noise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  Environment config issues are classified separately -- </a:t>
            </a:r>
            <a:r>
              <a:rPr sz="1400">
                <a:solidFill>
                  <a:srgbClr val="333333"/>
                </a:solidFill>
                <a:latin typeface="Calibri"/>
              </a:rPr>
              <a:t>prevents false alarms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  Only confirmed application bugs create Jira defects -- </a:t>
            </a:r>
            <a:r>
              <a:rPr sz="1400">
                <a:solidFill>
                  <a:srgbClr val="333333"/>
                </a:solidFill>
                <a:latin typeface="Calibri"/>
              </a:rPr>
              <a:t>keeps backlog clean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553212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RCA Accuracy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80% (validated against golden failure dataset)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False Positive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10% of auto-created defects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Module 7: AI Metrics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AI quality is measured, not assumed -- every AI decision has a quality score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We Measure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Requirement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well the agent extracts acceptance criteria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Compare output vs human-verified golden dataset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 Coverage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thoroughly TCs cover all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Weighted: positive (40%) + negative (35%) + edge (25%)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content with no basis in input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Trace every output item to source; no mapping = hallucination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Confidence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Agent's self-reported certainty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Score 0.0-1.0 emitted with every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0.85 avg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Confidence-Based Routing (How the system uses these metrics):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77639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 Score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Happens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Involvement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0.85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Auto-proceed to next agent -- no delay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required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0.70 - 0.84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Proceed but flag for optional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Optional -- QA can review if 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0.70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BLOCK pipeline -- require human approval before continuing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Mandatory -- must approve or reject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Why this matters: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  Without this framework, we're trusting AI blindly -- </a:t>
            </a:r>
            <a:r>
              <a:rPr sz="1400">
                <a:solidFill>
                  <a:srgbClr val="333333"/>
                </a:solidFill>
                <a:latin typeface="Calibri"/>
              </a:rPr>
              <a:t>no way to know if quality is improving or degrading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  Golden datasets provide ground truth -- </a:t>
            </a:r>
            <a:r>
              <a:rPr sz="1400">
                <a:solidFill>
                  <a:srgbClr val="333333"/>
                </a:solidFill>
                <a:latin typeface="Calibri"/>
              </a:rPr>
              <a:t>not opinions, but empirical data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>
                <a:solidFill>
                  <a:srgbClr val="333333"/>
                </a:solidFill>
                <a:latin typeface="Calibri"/>
              </a:rPr>
              <a:t>  Trends over time prove the feedback loop is working (or expose when it isn't)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400">
                <a:solidFill>
                  <a:srgbClr val="333333"/>
                </a:solidFill>
                <a:latin typeface="Calibri"/>
              </a:rPr>
              <a:t>  Enables compliance: every AI decision has a measurable quality score in the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Automation Execution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AI metrics tell us: are we generating the right tests?  Execution metrics tell us: are they running reliably?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212080" cy="201168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Execution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Pass / Fail Rate -- </a:t>
            </a:r>
            <a:r>
              <a:rPr sz="1300">
                <a:solidFill>
                  <a:srgbClr val="222222"/>
                </a:solidFill>
                <a:latin typeface="Calibri"/>
              </a:rPr>
              <a:t>target &gt;= 90% (with failure classification)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Retry Recovery Rate -- </a:t>
            </a:r>
            <a:r>
              <a:rPr sz="1300">
                <a:solidFill>
                  <a:srgbClr val="222222"/>
                </a:solidFill>
                <a:latin typeface="Calibri"/>
              </a:rPr>
              <a:t>target &gt;= 60% (transient vs real failures)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Avg Execution Time per Test -- </a:t>
            </a:r>
            <a:r>
              <a:rPr sz="1300">
                <a:solidFill>
                  <a:srgbClr val="222222"/>
                </a:solidFill>
                <a:latin typeface="Calibri"/>
              </a:rPr>
              <a:t>target &lt; 45 seconds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Parallel Efficiency -- </a:t>
            </a:r>
            <a:r>
              <a:rPr sz="1300">
                <a:solidFill>
                  <a:srgbClr val="222222"/>
                </a:solidFill>
                <a:latin typeface="Calibri"/>
              </a:rPr>
              <a:t>target &gt;= 70% of theoretical speedup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Suite Completion Rate -- </a:t>
            </a:r>
            <a:r>
              <a:rPr sz="1300">
                <a:solidFill>
                  <a:srgbClr val="222222"/>
                </a:solidFill>
                <a:latin typeface="Calibri"/>
              </a:rPr>
              <a:t>target &gt;= 98%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201168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36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Stability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7452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Flaky Test Rate -- </a:t>
            </a:r>
            <a:r>
              <a:rPr sz="1300">
                <a:solidFill>
                  <a:srgbClr val="222222"/>
                </a:solidFill>
                <a:latin typeface="Calibri"/>
              </a:rPr>
              <a:t>target &lt; 5% (root: timing 45%, data 25%, env 20%)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Auto-Heal Success -- </a:t>
            </a:r>
            <a:r>
              <a:rPr sz="1300">
                <a:solidFill>
                  <a:srgbClr val="222222"/>
                </a:solidFill>
                <a:latin typeface="Calibri"/>
              </a:rPr>
              <a:t>target &gt;= 70% of broken locators fixed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  Script Regen Success -- </a:t>
            </a:r>
            <a:r>
              <a:rPr sz="1300">
                <a:solidFill>
                  <a:srgbClr val="222222"/>
                </a:solidFill>
                <a:latin typeface="Calibri"/>
              </a:rPr>
              <a:t>target &gt;= 80% when app flow changes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Reduce flakiness by 20% each month until &lt; 2%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Track per-test flakiness history over last 10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Correlation Analysis (the real insight):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20624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Quality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Execution Quality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This Means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 to Take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pass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Environment / infrastructure problem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 infra, not the tests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pass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Coverage gap -- tests pass but miss real bugs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Improve AI prompts and golden 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hallucination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pass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False confidence -- invented tests happen to pass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Audit test cases against actual requirements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confidence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pass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Expected -- agent knew it was uncertain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Route low-confidence items to human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Supervisor / Orchestrator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This agent makes the system truly autonomous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383280" cy="246888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Coordinates All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Agent A finishes --&gt; trigger Agent B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Pass outputs between agents correctly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Manage dependencies and ordering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Handle concurrent pipelines (20+ stories)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Persist state for crash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383280" cy="246888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Makes System-Level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Confidence &gt;= 0.85: auto-proceed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Confidence 0.70-0.84: proceed + flag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Confidence &lt; 0.70: block, escalate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Timeout: retry with backoff (max 3)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Fatal error: skip + alert operator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383280" cy="246888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Human-in-Loop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7452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Low confidence on P0/critical story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3+ consecutive agent failures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Hallucination rate spikes above 10%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Auto-created Blocker severity defect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Channels: Slack, email, Jira, PagerDuty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Pipeline States: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222222"/>
                </a:solidFill>
                <a:latin typeface="Calibri"/>
              </a:defRPr>
            </a:pPr>
            <a:r>
              <a:t>INGESTING  --&gt;  INTERPRETING  --&gt;  DESIGNING  --&gt;  SCRIPTING  --&gt;  EXECUTING  --&gt;  ANALYZING  --&gt;  REPORTING  --&gt; 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Each state transition is logged with timestamp, input, confidence, and decision rationale. Full audit trail.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5486400"/>
          <a:ext cx="7315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95% (validated against decision golden dataset)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Completion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95% of pipelines reach COMPLETE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Escalation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15% (too high = alert fatigue, too low = blind trust)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Feedback Loop &amp; Continuous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The system gets measurably better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1F4E79"/>
                </a:solidFill>
                <a:latin typeface="Calibri"/>
              </a:defRPr>
            </a:pPr>
            <a:r>
              <a:t>Execution Results   --&gt;   Metrics Analysis   --&gt;   Identify Weak Areas   --&gt;   Tune Prompts   --&gt;   Better Output   --&gt;   Repeat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50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What Gets Tuned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LLM prompts (add rules, examples,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constraints, few-shot samples)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Confidence thresholds (reduce false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escalations, increase autonomy)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Retry strategies (extend waits vs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full retry based on failure type)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3774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450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Testing the Feedback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8892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Prompt regression testing: every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prompt change vs golden dataset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Model drift detection: daily canary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tests detect LLM behavior shifts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Historical benchmark: monthly data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proves improvement or exposes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377440"/>
            <a:ext cx="338328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450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Safeguards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78892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Prompt version control (Git-tracked)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Rollback to previous version &lt; 5 min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No prompt deploy without regression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test passing first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Monthly benchmarks: prove the loop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    is actually improving, not degrading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Key Principle: Treat prompts like code -- version control, test, review, deploy, rollback.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534924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2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3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Trend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Requirement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Improving (+9%)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Improving (-6%)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 Coverage Score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Improving (+12%)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End-to-End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From Jira story to measured test results -- the complete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28016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F4E79"/>
                </a:solidFill>
                <a:latin typeface="Calibri"/>
              </a:defRPr>
            </a:pPr>
            <a:r>
              <a:t>1. Jira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Input arrives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0512" y="1371600"/>
            <a:ext cx="128016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6232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F4E79"/>
                </a:solidFill>
                <a:latin typeface="Calibri"/>
              </a:defRPr>
            </a:pPr>
            <a:r>
              <a:t>2. Ingest &amp;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2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Parse, check,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5264" y="1371600"/>
            <a:ext cx="128016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0984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F4E79"/>
                </a:solidFill>
                <a:latin typeface="Calibri"/>
              </a:defRPr>
            </a:pPr>
            <a:r>
              <a:t>3. Understand Req.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4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Extract AC, flag ambiguity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0016" y="1371600"/>
            <a:ext cx="128016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F4E79"/>
                </a:solidFill>
                <a:latin typeface="Calibri"/>
              </a:defRPr>
            </a:pPr>
            <a:r>
              <a:t>4. Design Test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Positive/negative/edge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0176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371600"/>
            <a:ext cx="128016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F4E79"/>
                </a:solidFill>
                <a:latin typeface="Calibri"/>
              </a:defRPr>
            </a:pPr>
            <a:r>
              <a:t>5. Generate Scripts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Playwright/Selenium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371600"/>
            <a:ext cx="128016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F4E79"/>
                </a:solidFill>
                <a:latin typeface="Calibri"/>
              </a:defRPr>
            </a:pPr>
            <a:r>
              <a:t>6. Execute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Parallel, cross-browser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34272" y="1371600"/>
            <a:ext cx="128016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9992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F4E79"/>
                </a:solidFill>
                <a:latin typeface="Calibri"/>
              </a:defRPr>
            </a:pPr>
            <a:r>
              <a:t>7. Analyze &amp; RCA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Root cause,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4432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79024" y="1371600"/>
            <a:ext cx="128016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24744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F4E79"/>
                </a:solidFill>
                <a:latin typeface="Calibri"/>
              </a:defRPr>
            </a:pPr>
            <a:r>
              <a:t>8. Metrics &amp; 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4744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Feedback,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At Every Step: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546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  Input validated against schema before 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  Output carries a confidence score (0.0 - 1.0)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  Supervisor monitors progress and decides next action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  Metrics captured and sent to dashboard in real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Quality Gates at Each Boundary: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1546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  Confidence &lt; 0.70: pipeline pauses for human review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  Hallucination detected: alert + investigation triggered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  Compilation failure: auto-retry with different strategy</a:t>
            </a:r>
          </a:p>
          <a:p>
            <a:pPr>
              <a:spcBef>
                <a:spcPts val="400"/>
              </a:spcBef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  RCA classifies infra issue: no false bug filed in Jira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222222"/>
                </a:solidFill>
                <a:latin typeface="Calibri"/>
              </a:defRPr>
            </a:pPr>
            <a:r>
              <a:t>The feedback arrow: Step 8 results feed back into Steps 2-5, tuning prompts and thresholds so the next cycle is measurably better.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Complete Metrics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All metrics in one view -- AI quality, execution quality, and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AI Quality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5212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Requirement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87.3%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 Coverage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Confidence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Execution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691640"/>
          <a:ext cx="5212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88.4%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Flakiness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Auto-Heal Success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70%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 Efficiency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Operations Metrics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703320"/>
          <a:ext cx="52120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Completion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&gt;= 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96.2%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Time per 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Escalation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15%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3-Month Learning Trend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26480" y="3703320"/>
          <a:ext cx="52120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3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Requirement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Every metric has: a target, an alert threshold, an associated corrective action, and a trend line. No vanity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Architecture Value &amp; Closing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Why this architecture is production-ready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Means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Scalable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stories or 10,000 -- same platform, no extra headcount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Queue-based, parallel execution, independent agent scaling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Self-Healing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Broken locators auto-fixed, transient failures auto-retried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Auto-heal &gt;= 70%, retry recovery &gt;= 60%, script regen &gt;= 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Trustworthy AI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Every AI decision is measured, audited, and explainable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Golden datasets, hallucination tracking, confidence routing, audit logs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Production-Ready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CI/CD integrated, security hardened, monitoring live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Quality gates, prompt regression in pipeline, Grafana dashboards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F4E79"/>
                </a:solidFill>
                <a:latin typeface="Calibri"/>
              </a:defRPr>
            </a:pPr>
            <a:r>
              <a:t>Return on Investment: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840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(Manual + Traditional)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(Agentic AI Platform)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 design time per story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 days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15 minutes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 reduction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 maintenance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 of QA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Minimal (self-healing)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70% reduction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Bug escape rate to production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67% reduction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 coverage visibility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Gut feeling / unknown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Measured: 84% with trend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From 0% to full visibility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303520"/>
            <a:ext cx="1097280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"This architecture ensures confidence in both the application under test</a:t>
            </a:r>
            <a:br/>
            <a:r>
              <a:t>and the AI testing platform itself."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