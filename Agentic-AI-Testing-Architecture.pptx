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Agentic AI Testing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00B4D8"/>
                </a:solidFill>
                <a:latin typeface="Calibri"/>
              </a:defRPr>
            </a:pPr>
            <a:r>
              <a:t>for Automated Tool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ABBCC"/>
                </a:solidFill>
                <a:latin typeface="Calibri"/>
              </a:defRPr>
            </a:pPr>
            <a:r>
              <a:t>A Meta-Testing Platform — It tests applications, and it tests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3017520" cy="146304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30175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quality is measured,</a:t>
            </a:r>
            <a:br/>
            <a:r>
              <a:t>not assumed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389120"/>
            <a:ext cx="3017520" cy="146304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389120"/>
            <a:ext cx="30175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4D8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Minimal human intervention</a:t>
            </a:r>
            <a:br/>
            <a:r>
              <a:t>for routine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389120"/>
            <a:ext cx="3017520" cy="146304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389120"/>
            <a:ext cx="301752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CC"/>
                </a:solidFill>
                <a:latin typeface="Calibri"/>
              </a:defRPr>
            </a:pPr>
            <a:r>
              <a:t>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 AI decision is</a:t>
            </a:r>
            <a:br/>
            <a:r>
              <a:t>auditable &amp; traceable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Testing Architect Presentation  |  February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Why We Need an Agentic AI Testing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974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Manual Test Design</a:t>
            </a:r>
            <a:br/>
            <a:r>
              <a:t>Doesn't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QA becomes bottleneck as</a:t>
            </a:r>
            <a:br/>
            <a:r>
              <a:t>sprints accelerate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9748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69748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Jira Stories Are</a:t>
            </a:r>
            <a:br/>
            <a:r>
              <a:t>Ambiguous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35% missing AC</a:t>
            </a:r>
            <a:br/>
            <a:r>
              <a:t>60% miss negative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9748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974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Automation Scripts</a:t>
            </a:r>
            <a:br/>
            <a:r>
              <a:t>Break Frequently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42% failures from</a:t>
            </a:r>
            <a:br/>
            <a:r>
              <a:t>broken locators 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9748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63040"/>
            <a:ext cx="269748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Confidence in</a:t>
            </a:r>
            <a:br/>
            <a:r>
              <a:t>AI-Generated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68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No validation framework</a:t>
            </a:r>
            <a:br/>
            <a:r>
              <a:t>for hallucination or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1277295" cy="210312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CC71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Build a self-learning testing platform that: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DCC"/>
                </a:solidFill>
                <a:latin typeface="Calibri"/>
              </a:defRPr>
            </a:pPr>
            <a:r>
              <a:t>✓  Scales test design without scaling the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21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DCC"/>
                </a:solidFill>
                <a:latin typeface="Calibri"/>
              </a:defRPr>
            </a:pPr>
            <a:r>
              <a:t>✓  Detects and flags ambiguous requirements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1441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DCC"/>
                </a:solidFill>
                <a:latin typeface="Calibri"/>
              </a:defRPr>
            </a:pPr>
            <a:r>
              <a:t>✓  Self-heals broken automation scripts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0702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DCC"/>
                </a:solidFill>
                <a:latin typeface="Calibri"/>
              </a:defRPr>
            </a:pPr>
            <a:r>
              <a:t>✓  Measures AI quality with empirical metrics, not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5 Independent, Testable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8229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105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Supervisor Agent — Coordinates, decides, retries, escalates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77295" cy="8229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109728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Analysis &amp;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7706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Metrics + Execution Metrics — Measures everything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77295" cy="8229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9728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Automation &amp;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730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Script Agent → Execution Engine → RCA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11277295" cy="8229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1097280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690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Requirement Agent → Test Case Agent → Feedback 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11277295" cy="8229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73152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349240"/>
            <a:ext cx="109728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Input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6509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Jira Connector → Parser → Validator → Normalizer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6364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Architect's View:  Each layer is independently testable. Data flows down, feedback flows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Agentic AI 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"Multiple specialized agents coordinated by a supervisor agent"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29260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Autonomous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Agents act without step-by-step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Goal-driven, not rule-driven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Pipeline runs end-to-end autonomously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566160" cy="29260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4D8"/>
                </a:solidFill>
                <a:latin typeface="Calibri"/>
              </a:defRPr>
            </a:pPr>
            <a:r>
              <a:t>Decision-Making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Each agent decides and logs its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Confidence scores enable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Decisions are explainable &amp; reversible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63040"/>
            <a:ext cx="3566160" cy="29260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356616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CC"/>
                </a:solidFill>
                <a:latin typeface="Calibri"/>
              </a:defRPr>
            </a:pPr>
            <a:r>
              <a:t>Feedback-Driven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Execution results tune LLM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Thresholds adjust based on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System improves with every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11277295" cy="146304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t>WHY MULTI-AGENT (NOT MONOLITHIC)?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✓  Each agent fails independently — no single point of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✓  Each agent testable in isolation with its own golden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✓  Agents scale independently (3 execution agents, 1 RCA agent)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✓  Clear responsibility boundaries make debugging tractable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1: Jira Ingestion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The Gateway — Where Everything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Reads Jira story by ID or batch (OAuth/API 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Validates structure — required fields,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Normalizes content — strip HTML, resolve macros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Outputs canonical JSON for downstream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TESTING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Empty/malformed stories → Flag and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Expired tokens / no access → Clear auth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Rate limits (429) → Backoff and 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XSS payloads / special chars → Sanitized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749039"/>
          <a:ext cx="11277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Threshold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Ingestion Success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98%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95%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Parsing Error Rate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2%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 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Validation Pass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85%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Avg Ingestion Latency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2 seconds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 5 seconds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39C12"/>
                </a:solidFill>
                <a:latin typeface="Calibri"/>
              </a:defRPr>
            </a:pPr>
            <a:r>
              <a:t>Architect's Rule:  If garbage enters here, every downstream agent produces garbage.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2: Requirement Understanding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Turning Stories into Testable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560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Extract acceptance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(Gherkin, bullets, prose)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Identify implicit business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Detect ambiguity &amp; flag vague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requirements for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2560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Golden Story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— compare vs human-verified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Hallucination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— no invented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Ambiguity Flag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2560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t>AMBIGUITY EXAMPLES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✗ "should work correctly"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✗ "handle errors appropriately"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✗ "response time acceptable"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✓ "login with email &amp; password"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✓ "display name on dashboard"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97680"/>
            <a:ext cx="11277295" cy="164592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KEY METRICS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31520" y="4846320"/>
          <a:ext cx="10515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Requirement Interpretation Accuracy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75%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 8%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3: Test Case Design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From Requirements to Comprehensive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WHAT IT GENERATES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Positive path tests — happy flow for each 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Negative path tests — invalid inputs, unauthorized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Edge cases — boundary values, empty inputs, max lengths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Risk-based priority (P0-P3) per test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303520" cy="1828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Coverage completeness — every AC has P/N/E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Duplicate detection — semantic similarity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Traceability — every TC → Story → AC linked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Golden dataset comparison — &gt;= 85% coverage match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566160"/>
          <a:ext cx="1127729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 Dimension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Check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AC Coverage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Every acceptance criterion has at least 1 test case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Positive Path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Each AC has a happy-path test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Negative Path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Each AC has at least 1 failure-mode test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Edge Cases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Boundary values, empty inputs, max lengths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Business Rules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Each rule has violation scenarios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Output:  Structured, auditable JSON test cases with confidence scores and Jira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4: Automation Script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From Test Cases to Executable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8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CODE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UI → Playwright / Selenium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API → REST Assured / Supertest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DB → Parameterized SQL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Follows Page Object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Uses stable locators (data-testid)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QUALITY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Syntax valid — compiles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Locators robust (score &gt;= 7/10)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Assertions match expected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No hard-coded waits (sleep)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POM structure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t>SELF-HEALING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Broken locator → find by text/role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App flow changed → regenerate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Auto-heal confidence &gt; 0.8 →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Auto-heal confidence &lt; 0.8 →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Recovery: minutes, not hours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23360"/>
            <a:ext cx="11277295" cy="201168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LOCATOR ROBUSTNESS SCALE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31520" y="452628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Locator Strategy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When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data-testid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10/10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Always preferred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id attribute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8/10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If IDs are stable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CSS (class-based)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5/10 ⚠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Risky — classes change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XPath (absolute)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2/10 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Never acceptable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772400" y="4526280"/>
          <a:ext cx="3840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Compilation Success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Auto-Heal Success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5: Execution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Running Tests at Scale, Reliably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9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Execute across Chrome, Firefox,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Parallel execution (10x workers)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Environment management (QA/Stage)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CI/CD pipeline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t>RETRY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Element not found → retry 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Network timeout → retry 3x + backoff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Browser crash → restart + retry 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Assertion failure → NO retry (real bug)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CHAOS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Kill browser mid-test → partial 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Network disconnect → retry +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Memory pressure → clean shutdown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Grid node removed → redistribute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3749039"/>
          <a:ext cx="1127729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Threshold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Execution Success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85%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Flakiness 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 10%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Retry Recovery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60%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40%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Parallel Efficiency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50%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Avg Execution Time / Test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45 seconds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 90 seconds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6: Results &amp; RCA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From Failures to Root Causes to Jira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EVIDENCE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Console &amp; server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Screenshot at failure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Video recording of full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Network HAR trace + DOM snapshot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RCA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Assertion mismatch → App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Element not found → Locator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HTTP 500 → Backend 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Timeout → Infra Issue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E44AD"/>
                </a:solidFill>
                <a:latin typeface="Calibri"/>
              </a:defRPr>
            </a:pPr>
            <a:r>
              <a:t>AUTO JIRA DEFECTS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Bug title + steps to reproduce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Evidence attached (screenshots, logs)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Severity mapped from test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Duplicate detection (fingerprinting)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11277295" cy="246888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3749039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RCA Accuracy 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False Positive Rate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10%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Evidence Completeness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98%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Correct Severity Assignment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t>FALSE POSITIVE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Infra failure → NOT filed as app bug</a:t>
            </a:r>
            <a:br/>
            <a:r>
              <a:t>▸  Flaky test (passes on retry) → NOT filed</a:t>
            </a:r>
            <a:br/>
            <a:r>
              <a:t>▸  Environment config error → NOT filed</a:t>
            </a:r>
            <a:br/>
            <a:r>
              <a:t>▸  Only real app bugs create Jira defects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7: AI Metrics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"AI quality is measured, not assumed"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97480" cy="24688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Requirement</a:t>
            </a:r>
            <a:br/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9A7"/>
                </a:solidFill>
                <a:latin typeface="Calibri"/>
              </a:defRPr>
            </a:pPr>
            <a:r>
              <a:t>&gt;=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How well AC is extracted</a:t>
            </a:r>
            <a:br/>
            <a:r>
              <a:t>vs golden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24688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544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 Coverage</a:t>
            </a:r>
            <a:br/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4D8"/>
                </a:solidFill>
                <a:latin typeface="Calibri"/>
              </a:defRPr>
            </a:pPr>
            <a:r>
              <a:t>&gt;= 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Positive + Negative +</a:t>
            </a:r>
            <a:br/>
            <a:r>
              <a:t>Edge case completeness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97480" cy="24688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6974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544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Hallucination</a:t>
            </a:r>
            <a:br/>
            <a:r>
              <a:t>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&lt;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AI-invented content</a:t>
            </a:r>
            <a:br/>
            <a:r>
              <a:t>with no source in 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697480" cy="24688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371600"/>
            <a:ext cx="269748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5544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  <a:br/>
            <a:r>
              <a:t>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7ACC"/>
                </a:solidFill>
                <a:latin typeface="Calibri"/>
              </a:defRPr>
            </a:pPr>
            <a:r>
              <a:t>&gt;= 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Agent self-reported</a:t>
            </a:r>
            <a:br/>
            <a:r>
              <a:t>certainty per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11277295" cy="182880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CONFIDENCE-BASED ROUTING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475488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 Score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Routing Decision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Involvement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0.85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Auto-proceed to next agent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0.70 – 0.84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Proceed with flag for optional review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Optional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0.70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BLOCK — Require human approval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Mandatory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Automation Execution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Measuring Runtime Performance &amp;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EXECUTION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Pass / Fail Rate — target &gt;= 90%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Retry Recovery Rate — target &gt;=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Avg Execution Time — target &lt; 45s per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Parallel Efficiency — target &gt;=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Suite Completion Rate — target &gt;= 98%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303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t>STABILITY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Flaky Test Rate — target &lt;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Root: timing 45%, data 25%, env 20%, order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Auto-Heal Success — target &gt;=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426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Script Regeneration Success — target &gt;=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98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Reduce flakiness by 20%/month goal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11277295" cy="219456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t>CORRELATION INSIGHTS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43891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Quality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Quality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Diagnosis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High Accuracy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Low Pass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Environment / Infra problem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Fix infra, not tests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Low Accuracy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High Pass Rate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Coverage gap — wrong things tested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Improve AI prompts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High Hallucination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High Pass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False confidence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Audit test cases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Supervisor / Orchestrator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"This agent makes the system truly autonomous"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COORDINATES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Agent A finishes → trigger Agent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Pass outputs between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Manage execution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Handle concurrent pipelines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DECIDES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&gt;= 0.85 confidence → Auto-proceed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0.70–0.84 → Proceed with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&lt; 0.70 → Escalate to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Retry vs Skip vs Abort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ESCALATES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Low confidence on P0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3+ consecutive agent 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Hallucination detected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Auto-created Blocker defect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5303520" cy="219456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PIPELINE 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INGESTING → INTERPRETING → DESIGNING</a:t>
            </a:r>
            <a:br/>
            <a:r>
              <a:t>    → SCRIPTING → EXECUTING → ANALYZING</a:t>
            </a:r>
            <a:br/>
            <a:r>
              <a:t>        → REPORTING → COMPLETE</a:t>
            </a:r>
            <a:br/>
            <a:br/>
            <a:r>
              <a:t>Each transition: logged, audited, reversible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5303520" cy="219456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KEY METRICS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92240" y="4389120"/>
          <a:ext cx="4754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Decision Accuracy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Pipeline Completion Rate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Escalation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15%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Feedback Loop &amp; Continuous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The System Gets Better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THE LEARNING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Execution Results   →   Metrics Analysis   →   Prompt Tuning   →   Better Output   →   Repeat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35661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WHAT GETS TUNED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LLM prompts (rules, examples)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Confidence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58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Retry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Agent decision boundaries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432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7432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Prompt regression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— every change vs golden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58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Model drift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 — daily canary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743200"/>
            <a:ext cx="3566160" cy="20116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743200"/>
            <a:ext cx="356616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E44AD"/>
                </a:solidFill>
                <a:latin typeface="Calibri"/>
              </a:defRPr>
            </a:pPr>
            <a:r>
              <a:t>SAFEGUARDS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Prompt version control (Git)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Rollback in &lt; 5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58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No deploy without regression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Monthly benchmark comparisons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11277295" cy="9144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9C12"/>
                </a:solidFill>
                <a:latin typeface="Calibri"/>
              </a:defRPr>
            </a:pPr>
            <a:r>
              <a:t>Key Insight:  Treat prompts like code — version control, test, review, deploy, rollback.</a:t>
            </a:r>
            <a:br/>
            <a:r>
              <a:t>A one-word prompt change can shift AI behavior dramatically.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From Jira Story to Measurable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C9A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JIRA</a:t>
            </a:r>
            <a:br/>
            <a:r>
              <a:t>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1645920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C9A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INGEST &amp;</a:t>
            </a:r>
            <a:br/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645920"/>
            <a:ext cx="1234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4D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UNDERSTAND</a:t>
            </a:r>
            <a:br/>
            <a:r>
              <a:t>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645920"/>
            <a:ext cx="1234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4D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  <a:br/>
            <a:r>
              <a:t>TEST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45920"/>
            <a:ext cx="123444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A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SCRIPTS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1645920"/>
            <a:ext cx="123444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A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  <a:br/>
            <a:r>
              <a:t>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1645920"/>
            <a:ext cx="123444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E44AD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  <a:br/>
            <a:r>
              <a:t>&amp; RCA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B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1645920"/>
            <a:ext cx="1234440" cy="13716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07040" y="1645920"/>
            <a:ext cx="12344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ECC71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1488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METRICS &amp;</a:t>
            </a:r>
            <a:br/>
            <a:r>
              <a:t>FEEDBACK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383280"/>
            <a:ext cx="11277295" cy="2560320"/>
          </a:xfrm>
          <a:prstGeom prst="rect">
            <a:avLst/>
          </a:prstGeom>
          <a:solidFill>
            <a:srgbClr val="0D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At Each Step: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Input validated against schema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Output carries confidence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Supervisor monitors and decides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Metrics captured for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t>Quality Gates: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59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Confidence &lt; 0.70 → Human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59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Hallucination detected → Pipeline pause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59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Compilation fails → Auto-retry/regen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59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RCA flags infra → No false bug filed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599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E44AD"/>
                </a:solidFill>
                <a:latin typeface="Calibri"/>
              </a:defRPr>
            </a:pPr>
            <a:r>
              <a:t>Feedback: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599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Every result feeds back to prompts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9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Model drift detected by daily canaries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9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Monthly benchmarks track improvement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599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Golden datasets provide ground truth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Complete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AI Quality + Execution Quality +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91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AI QUALITY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Requirement Accuracy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87.3%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Test Coverage Score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83.6% ⚠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3.2%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Decision Confidence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0.85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0.88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EXECUTION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88.4% ⚠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Flakiness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4.6%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Auto-Heal Success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73%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Parallel Efficiency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83%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44AD"/>
                </a:solidFill>
                <a:latin typeface="Calibri"/>
              </a:defRPr>
            </a:pPr>
            <a:r>
              <a:t>OPERATIONS METRICS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77639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Pipeline Completion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96.2%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Mean Time per Story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15 min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12 min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Escalation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&lt; 15%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12% ✓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ECC71"/>
                </a:solidFill>
                <a:latin typeface="Calibri"/>
              </a:defRPr>
            </a:pPr>
            <a:r>
              <a:t>LEARNING TREND (3 MONTHS)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7920" y="3977639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Trend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Req Accuracy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▲ +9%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Hallucination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▼ -6% ✓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▲ +9%</a:t>
                      </a:r>
                    </a:p>
                  </a:txBody>
                  <a:tcPr anchor="ctr">
                    <a:solidFill>
                      <a:srgbClr val="1E2D4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t>Every metric has: a target, an alert threshold, an associated action, and a trend 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Architecture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CC71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10 or 10,000 stories</a:t>
            </a:r>
            <a:br/>
            <a:r>
              <a:t>Same platform, no extra headcount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97480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97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B4D8"/>
                </a:solidFill>
                <a:latin typeface="Calibri"/>
              </a:defRPr>
            </a:pPr>
            <a:r>
              <a:t>SELF-HEALING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Broken locators auto-fixed</a:t>
            </a:r>
            <a:br/>
            <a:r>
              <a:t>Failed tests auto-retried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97480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974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TRUSTWORTHY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 decision measured</a:t>
            </a:r>
            <a:br/>
            <a:r>
              <a:t>Audited and explainable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463040"/>
            <a:ext cx="2697480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9748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PRODUCTION-READY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CI/CD integrated</a:t>
            </a:r>
            <a:br/>
            <a:r>
              <a:t>Security hardened, monitoring 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11277295" cy="11887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ROI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BBBBB"/>
                </a:solidFill>
                <a:latin typeface="Calibri"/>
              </a:defRPr>
            </a:pPr>
            <a:r>
              <a:t>Test design time: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Days →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95%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BBBBB"/>
                </a:solidFill>
                <a:latin typeface="Calibri"/>
              </a:defRPr>
            </a:pPr>
            <a:r>
              <a:t>Script maintenance: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Constant → Minimal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70%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BBBBB"/>
                </a:solidFill>
                <a:latin typeface="Calibri"/>
              </a:defRPr>
            </a:pPr>
            <a:r>
              <a:t>Bug escape rate: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15% → &lt; 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67% reduction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11277295" cy="1188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37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"This architecture ensures confidence in both the application</a:t>
            </a:r>
            <a:br/>
            <a:r>
              <a:t>under test and the AI testing platform itself."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